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sldIdLst>
    <p:sldId id="257" r:id="rId2"/>
    <p:sldId id="299" r:id="rId3"/>
    <p:sldId id="300" r:id="rId4"/>
    <p:sldId id="295" r:id="rId5"/>
    <p:sldId id="298" r:id="rId6"/>
    <p:sldId id="294" r:id="rId7"/>
    <p:sldId id="297" r:id="rId8"/>
    <p:sldId id="261" r:id="rId9"/>
    <p:sldId id="262" r:id="rId10"/>
    <p:sldId id="303" r:id="rId11"/>
    <p:sldId id="285" r:id="rId12"/>
    <p:sldId id="289" r:id="rId13"/>
    <p:sldId id="302" r:id="rId14"/>
    <p:sldId id="263" r:id="rId15"/>
    <p:sldId id="272" r:id="rId16"/>
    <p:sldId id="264" r:id="rId17"/>
    <p:sldId id="265" r:id="rId18"/>
    <p:sldId id="266" r:id="rId19"/>
    <p:sldId id="267" r:id="rId20"/>
    <p:sldId id="274" r:id="rId21"/>
    <p:sldId id="276" r:id="rId22"/>
    <p:sldId id="273" r:id="rId23"/>
    <p:sldId id="277" r:id="rId24"/>
    <p:sldId id="279" r:id="rId25"/>
    <p:sldId id="280" r:id="rId26"/>
    <p:sldId id="278" r:id="rId27"/>
    <p:sldId id="281" r:id="rId28"/>
    <p:sldId id="282" r:id="rId29"/>
    <p:sldId id="283" r:id="rId30"/>
    <p:sldId id="301" r:id="rId31"/>
    <p:sldId id="286" r:id="rId32"/>
    <p:sldId id="284" r:id="rId33"/>
    <p:sldId id="288" r:id="rId34"/>
    <p:sldId id="290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23" autoAdjust="0"/>
    <p:restoredTop sz="90929"/>
  </p:normalViewPr>
  <p:slideViewPr>
    <p:cSldViewPr>
      <p:cViewPr varScale="1">
        <p:scale>
          <a:sx n="67" d="100"/>
          <a:sy n="67" d="100"/>
        </p:scale>
        <p:origin x="123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endParaRPr lang="tr-T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tr-T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4367EC29-39E3-4EFD-B802-3DF706301A1C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049804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endParaRPr lang="tr-TR" alt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tr-TR" alt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489F7AB4-DE45-4090-A001-600B7E2D4D43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40326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7A814-CE2D-4364-A790-F1D3D224612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897841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BC8D4-0463-4465-8BC9-A2ADBE32CD54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3545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FE009-EC0F-4BE0-86EC-C5CB1DB8279B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274645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CB4CD-2830-4E51-BAE3-3FAB0A23ACF4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5530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EBBBFC-066C-4503-9319-1ECAF2B7F55D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055461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17B3A-25E0-497A-8E3E-990B0F505C6E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7360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D443-F040-479D-B346-0229873E1CD5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559121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536D1-9C68-4707-96CD-7185984A7DFA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369063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536D1-9C68-4707-96CD-7185984A7DFA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587319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536D1-9C68-4707-96CD-7185984A7DFA}" type="slidenum">
              <a:rPr lang="tr-TR" altLang="en-US" smtClean="0"/>
              <a:pPr/>
              <a:t>‹#›</a:t>
            </a:fld>
            <a:endParaRPr lang="tr-T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668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536D1-9C68-4707-96CD-7185984A7DFA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1366637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536D1-9C68-4707-96CD-7185984A7DFA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3389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tr-T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536D1-9C68-4707-96CD-7185984A7DFA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79505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67591-E8F2-4457-90D0-F36D061538F8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8637495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8D986-E264-4942-A2AF-045004134724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936293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536D1-9C68-4707-96CD-7185984A7DFA}" type="slidenum">
              <a:rPr lang="tr-TR" altLang="en-US" smtClean="0"/>
              <a:pPr/>
              <a:t>‹#›</a:t>
            </a:fld>
            <a:endParaRPr lang="tr-TR" altLang="en-US"/>
          </a:p>
        </p:txBody>
      </p:sp>
    </p:spTree>
    <p:extLst>
      <p:ext uri="{BB962C8B-B14F-4D97-AF65-F5344CB8AC3E}">
        <p14:creationId xmlns:p14="http://schemas.microsoft.com/office/powerpoint/2010/main" val="42872639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D285D0D2-D516-EEB7-1978-FAB1DEB00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71600"/>
            <a:ext cx="8991600" cy="5253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tr-TR" altLang="en-US" sz="3200" b="1"/>
          </a:p>
          <a:p>
            <a:pPr>
              <a:spcBef>
                <a:spcPct val="50000"/>
              </a:spcBef>
            </a:pPr>
            <a:r>
              <a:rPr lang="tr-TR" altLang="en-US" sz="2800"/>
              <a:t>1-Introduction to Power Electronics</a:t>
            </a:r>
          </a:p>
          <a:p>
            <a:pPr>
              <a:spcBef>
                <a:spcPct val="50000"/>
              </a:spcBef>
            </a:pPr>
            <a:r>
              <a:rPr lang="tr-TR" altLang="en-US" sz="2800"/>
              <a:t>2-Semiconductor Devices</a:t>
            </a:r>
            <a:r>
              <a:rPr lang="tr-TR" altLang="en-US"/>
              <a:t>     </a:t>
            </a:r>
            <a:r>
              <a:rPr lang="tr-TR" altLang="en-US" sz="1600"/>
              <a:t>a)Diode                            d)BJT</a:t>
            </a:r>
          </a:p>
          <a:p>
            <a:pPr>
              <a:spcBef>
                <a:spcPct val="50000"/>
              </a:spcBef>
            </a:pPr>
            <a:r>
              <a:rPr lang="tr-TR" altLang="en-US" sz="1600"/>
              <a:t>                                                                                b)Thyristor                       e)MOSFET</a:t>
            </a:r>
          </a:p>
          <a:p>
            <a:pPr>
              <a:spcBef>
                <a:spcPct val="50000"/>
              </a:spcBef>
            </a:pPr>
            <a:r>
              <a:rPr lang="tr-TR" altLang="en-US" sz="1600"/>
              <a:t>                                                                                c)GTO                              f)IGBT </a:t>
            </a:r>
          </a:p>
          <a:p>
            <a:pPr>
              <a:spcBef>
                <a:spcPct val="50000"/>
              </a:spcBef>
            </a:pPr>
            <a:r>
              <a:rPr lang="tr-TR" altLang="en-US" sz="2800"/>
              <a:t>3-Rectifiers  </a:t>
            </a:r>
            <a:r>
              <a:rPr lang="tr-TR" altLang="en-US" sz="1600"/>
              <a:t>a)Midpoint Rectifiers   a)Uncontrolled Rectifiers         a)Single Phase Rectifiers </a:t>
            </a:r>
          </a:p>
          <a:p>
            <a:pPr>
              <a:spcBef>
                <a:spcPct val="50000"/>
              </a:spcBef>
            </a:pPr>
            <a:r>
              <a:rPr lang="tr-TR" altLang="en-US" sz="1600"/>
              <a:t>                                    b)Bridge Rectifiers       b)Full-Controlled Rectifers       b)Three Phase Rectifiers </a:t>
            </a:r>
          </a:p>
          <a:p>
            <a:pPr>
              <a:spcBef>
                <a:spcPct val="50000"/>
              </a:spcBef>
            </a:pPr>
            <a:r>
              <a:rPr lang="tr-TR" altLang="en-US" sz="1600"/>
              <a:t>                                                                         c)Half-Wave Controlled Rect.</a:t>
            </a:r>
          </a:p>
          <a:p>
            <a:pPr>
              <a:spcBef>
                <a:spcPct val="50000"/>
              </a:spcBef>
            </a:pPr>
            <a:r>
              <a:rPr lang="tr-TR" altLang="en-US" sz="2800"/>
              <a:t>4-Practical Aspects of Rectifier Circuit</a:t>
            </a:r>
          </a:p>
          <a:p>
            <a:pPr>
              <a:spcBef>
                <a:spcPct val="50000"/>
              </a:spcBef>
            </a:pPr>
            <a:r>
              <a:rPr lang="tr-TR" altLang="en-US" sz="2800"/>
              <a:t>5-Cooling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03587A08-32D3-CE36-8A3B-21AEF4AC5DC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66800"/>
            <a:ext cx="7772400" cy="1143000"/>
          </a:xfrm>
        </p:spPr>
        <p:txBody>
          <a:bodyPr/>
          <a:lstStyle/>
          <a:p>
            <a:r>
              <a:rPr lang="tr-TR" altLang="en-US" sz="3600"/>
              <a:t>CONTENTS</a:t>
            </a:r>
          </a:p>
        </p:txBody>
      </p:sp>
      <p:sp>
        <p:nvSpPr>
          <p:cNvPr id="3087" name="WordArt 15">
            <a:extLst>
              <a:ext uri="{FF2B5EF4-FFF2-40B4-BE49-F238E27FC236}">
                <a16:creationId xmlns:a16="http://schemas.microsoft.com/office/drawing/2014/main" id="{4669451D-1878-CFA1-0B86-6218524FD5B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208275">
            <a:off x="1371600" y="228600"/>
            <a:ext cx="6477000" cy="9906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IN" sz="3600" kern="10">
                <a:ln w="952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rgbClr val="333333"/>
                </a:solidFill>
                <a:effectLst>
                  <a:outerShdw dist="53882" dir="2700000" algn="ctr" rotWithShape="0">
                    <a:srgbClr val="9999FF"/>
                  </a:outerShdw>
                </a:effectLst>
                <a:latin typeface="Impact" panose="020B0806030902050204" pitchFamily="34" charset="0"/>
              </a:rPr>
              <a:t>POWER ELECTRONICS-1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>
            <a:extLst>
              <a:ext uri="{FF2B5EF4-FFF2-40B4-BE49-F238E27FC236}">
                <a16:creationId xmlns:a16="http://schemas.microsoft.com/office/drawing/2014/main" id="{AD991918-0019-B23D-5A08-09C2EDE75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052513"/>
            <a:ext cx="7772400" cy="811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4000">
                <a:solidFill>
                  <a:schemeClr val="tx2"/>
                </a:solidFill>
              </a:rPr>
              <a:t>Learning Objectives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58B41630-3702-8154-DA44-2C0C8DCFC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0574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/>
              <a:t>Understand what we mean by “ power electronics.”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/>
              <a:t>Understand the issues, and potential applications and challenges of power electronics. 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cs typeface="Times New Roman" panose="02020603050405020304" pitchFamily="18" charset="0"/>
              </a:rPr>
              <a:t>Encourage further reading on power electronics and its applications. </a:t>
            </a:r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7130B976-AD0F-C515-6FF8-D9450829FF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tr-TR" altLang="en-US" sz="4000" b="1"/>
              <a:t>Introduction to Power Electronics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>
            <a:extLst>
              <a:ext uri="{FF2B5EF4-FFF2-40B4-BE49-F238E27FC236}">
                <a16:creationId xmlns:a16="http://schemas.microsoft.com/office/drawing/2014/main" id="{CC71A3C7-FFB1-35F9-1208-F462295CE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04800"/>
            <a:ext cx="7772400" cy="95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4000">
                <a:solidFill>
                  <a:schemeClr val="tx2"/>
                </a:solidFill>
              </a:rPr>
              <a:t>Presentation Overview</a:t>
            </a:r>
          </a:p>
        </p:txBody>
      </p:sp>
      <p:sp>
        <p:nvSpPr>
          <p:cNvPr id="49155" name="Rectangle 1027">
            <a:extLst>
              <a:ext uri="{FF2B5EF4-FFF2-40B4-BE49-F238E27FC236}">
                <a16:creationId xmlns:a16="http://schemas.microsoft.com/office/drawing/2014/main" id="{8CC75CC8-F45E-B84A-5BD7-6026D2F3E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600200"/>
            <a:ext cx="8382000" cy="433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/>
              <a:t>What We Mean by Power Electronics?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/>
              <a:t>Power Electronics Systems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/>
              <a:t>Types of Power Converters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/>
              <a:t>Power Semiconductor Devices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/>
              <a:t>Examples of Applications </a:t>
            </a:r>
            <a:endParaRPr lang="en-US" altLang="en-US" sz="280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cs typeface="Times New Roman" panose="02020603050405020304" pitchFamily="18" charset="0"/>
              </a:rPr>
              <a:t>Specifications of Power Electronics Systems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cs typeface="Times New Roman" panose="02020603050405020304" pitchFamily="18" charset="0"/>
              </a:rPr>
              <a:t>Issues of Power Electronics  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cs typeface="Times New Roman" panose="02020603050405020304" pitchFamily="18" charset="0"/>
              </a:rPr>
              <a:t>IEEE Resources</a:t>
            </a:r>
            <a:r>
              <a:rPr lang="en-US" altLang="en-US" sz="2800">
                <a:solidFill>
                  <a:srgbClr val="000000"/>
                </a:solidFill>
                <a:cs typeface="Times New Roman" panose="02020603050405020304" pitchFamily="18" charset="0"/>
              </a:rPr>
              <a:t>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D21E0B0B-5E29-B5EC-00E1-91061104F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57200"/>
            <a:ext cx="861060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4000">
                <a:solidFill>
                  <a:schemeClr val="tx2"/>
                </a:solidFill>
              </a:rPr>
              <a:t>What We Mean by Power Electronics?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363D069-1121-84F4-7E21-16EFDA274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0"/>
            <a:ext cx="8458200" cy="447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/>
              <a:t>Uses semiconductor devices as switches for power conversion from one type of source to another. 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/>
              <a:t>Uses solid-state electronics for efficient control of the amount of power and energy flow.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/>
              <a:t>Applies control techniques in order to obtain the desired input and output requirements. </a:t>
            </a:r>
            <a:endParaRPr lang="en-US" altLang="en-US" sz="28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cs typeface="Times New Roman" panose="02020603050405020304" pitchFamily="18" charset="0"/>
              </a:rPr>
              <a:t>We can say that Power Electronics combine Power, Electronics and Control.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§"/>
            </a:pPr>
            <a:r>
              <a:rPr lang="en-US" altLang="en-US" sz="2800">
                <a:cs typeface="Times New Roman" panose="02020603050405020304" pitchFamily="18" charset="0"/>
              </a:rPr>
              <a:t>Thus we can define Power Electronics as the applications of solid-state electronics for the control and conversion of electric power.</a:t>
            </a:r>
            <a:r>
              <a:rPr lang="en-US" altLang="en-US" sz="28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4098">
            <a:extLst>
              <a:ext uri="{FF2B5EF4-FFF2-40B4-BE49-F238E27FC236}">
                <a16:creationId xmlns:a16="http://schemas.microsoft.com/office/drawing/2014/main" id="{B7486606-BEE3-151D-B542-3EBD607BA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4000">
                <a:solidFill>
                  <a:schemeClr val="tx2"/>
                </a:solidFill>
              </a:rPr>
              <a:t>Power Electronics System</a:t>
            </a:r>
          </a:p>
        </p:txBody>
      </p:sp>
      <p:sp>
        <p:nvSpPr>
          <p:cNvPr id="47107" name="Rectangle 4099">
            <a:extLst>
              <a:ext uri="{FF2B5EF4-FFF2-40B4-BE49-F238E27FC236}">
                <a16:creationId xmlns:a16="http://schemas.microsoft.com/office/drawing/2014/main" id="{C8726DEC-710A-B300-7D58-A6519BA94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8153400" cy="483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>
                <a:cs typeface="Times New Roman" panose="02020603050405020304" pitchFamily="18" charset="0"/>
              </a:rPr>
              <a:t>Consists of an input source and a load.  </a:t>
            </a:r>
            <a:endParaRPr lang="en-US" altLang="en-US" sz="2800"/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/>
              <a:t>One or more converters for power conversion.  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/>
              <a:t>Power semiconductor devices, which are used as switches to perform the power conversion.    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/>
              <a:t>A gating circuit to generate the gate drive signals for the switching devices. 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/>
              <a:t>A feedback control circuit implemented either in analog and/or digital electronics.     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800">
                <a:cs typeface="Times New Roman" panose="02020603050405020304" pitchFamily="18" charset="0"/>
              </a:rPr>
              <a:t>One or more static-switches acting as a circuit breaker. </a:t>
            </a:r>
            <a:endParaRPr lang="en-US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133E2C6-7C3E-224E-2F9A-3A9093824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27038"/>
            <a:ext cx="7772400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4000">
                <a:solidFill>
                  <a:schemeClr val="tx2"/>
                </a:solidFill>
              </a:rPr>
              <a:t>Types of Power Converters </a:t>
            </a:r>
            <a:endParaRPr lang="en-US" altLang="en-US" sz="4400">
              <a:solidFill>
                <a:schemeClr val="tx2"/>
              </a:solidFill>
              <a:cs typeface="Times New Roman" panose="02020603050405020304" pitchFamily="18" charset="0"/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B3BE760-B139-0C3F-DB55-7700D3E88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28600" y="1371600"/>
            <a:ext cx="8458200" cy="448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tr-TR" altLang="en-US" sz="2800"/>
              <a:t>          </a:t>
            </a:r>
            <a:r>
              <a:rPr lang="en-US" altLang="en-US" sz="2800">
                <a:cs typeface="Times New Roman" panose="02020603050405020304" pitchFamily="18" charset="0"/>
              </a:rPr>
              <a:t>Converters are generally classified into four types</a:t>
            </a:r>
            <a:r>
              <a:rPr lang="tr-TR" altLang="en-US" sz="2800"/>
              <a:t>:</a:t>
            </a:r>
          </a:p>
          <a:p>
            <a:pPr>
              <a:spcBef>
                <a:spcPct val="20000"/>
              </a:spcBef>
            </a:pPr>
            <a:endParaRPr lang="en-US" altLang="en-US" sz="2800" u="sng"/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tr-TR" altLang="en-US" sz="2800"/>
              <a:t>AC</a:t>
            </a:r>
            <a:r>
              <a:rPr lang="en-US" altLang="en-US" sz="2800">
                <a:cs typeface="Times New Roman" panose="02020603050405020304" pitchFamily="18" charset="0"/>
              </a:rPr>
              <a:t>-</a:t>
            </a:r>
            <a:r>
              <a:rPr lang="tr-TR" altLang="en-US" sz="2800"/>
              <a:t>DC</a:t>
            </a:r>
            <a:r>
              <a:rPr lang="en-US" altLang="en-US" sz="2800">
                <a:cs typeface="Times New Roman" panose="02020603050405020304" pitchFamily="18" charset="0"/>
              </a:rPr>
              <a:t> converter, also called as a rectifier. 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tr-TR" altLang="en-US" sz="2800"/>
              <a:t>AC</a:t>
            </a:r>
            <a:r>
              <a:rPr lang="en-US" altLang="en-US" sz="2800">
                <a:cs typeface="Times New Roman" panose="02020603050405020304" pitchFamily="18" charset="0"/>
              </a:rPr>
              <a:t>-</a:t>
            </a:r>
            <a:r>
              <a:rPr lang="tr-TR" altLang="en-US" sz="2800"/>
              <a:t>AC</a:t>
            </a:r>
            <a:r>
              <a:rPr lang="en-US" altLang="en-US" sz="2800">
                <a:cs typeface="Times New Roman" panose="02020603050405020304" pitchFamily="18" charset="0"/>
              </a:rPr>
              <a:t> converter, also called as an ac voltage controller. 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tr-TR" altLang="en-US" sz="2800"/>
              <a:t>DC</a:t>
            </a:r>
            <a:r>
              <a:rPr lang="en-US" altLang="en-US" sz="2800">
                <a:cs typeface="Times New Roman" panose="02020603050405020304" pitchFamily="18" charset="0"/>
              </a:rPr>
              <a:t>-</a:t>
            </a:r>
            <a:r>
              <a:rPr lang="tr-TR" altLang="en-US" sz="2800"/>
              <a:t>DC</a:t>
            </a:r>
            <a:r>
              <a:rPr lang="en-US" altLang="en-US" sz="2800">
                <a:cs typeface="Times New Roman" panose="02020603050405020304" pitchFamily="18" charset="0"/>
              </a:rPr>
              <a:t> converter, also called as a dc chopper.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tr-TR" altLang="en-US" sz="2800"/>
              <a:t>DC</a:t>
            </a:r>
            <a:r>
              <a:rPr lang="en-US" altLang="en-US" sz="2800">
                <a:cs typeface="Times New Roman" panose="02020603050405020304" pitchFamily="18" charset="0"/>
              </a:rPr>
              <a:t>-</a:t>
            </a:r>
            <a:r>
              <a:rPr lang="tr-TR" altLang="en-US" sz="2800"/>
              <a:t>AC</a:t>
            </a:r>
            <a:r>
              <a:rPr lang="en-US" altLang="en-US" sz="2800">
                <a:cs typeface="Times New Roman" panose="02020603050405020304" pitchFamily="18" charset="0"/>
              </a:rPr>
              <a:t> converter, also called as an inverter. </a:t>
            </a:r>
            <a:r>
              <a:rPr lang="en-US" altLang="en-US" sz="3200">
                <a:cs typeface="Times New Roman" panose="02020603050405020304" pitchFamily="18" charset="0"/>
              </a:rPr>
              <a:t> </a:t>
            </a:r>
            <a:r>
              <a:rPr lang="en-US" altLang="en-US" sz="32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6">
            <a:extLst>
              <a:ext uri="{FF2B5EF4-FFF2-40B4-BE49-F238E27FC236}">
                <a16:creationId xmlns:a16="http://schemas.microsoft.com/office/drawing/2014/main" id="{AC79E6BC-FC08-1739-E182-7AD0CD4D1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57200"/>
            <a:ext cx="8001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endParaRPr lang="en-US" altLang="en-US" sz="4400">
              <a:solidFill>
                <a:schemeClr val="tx2"/>
              </a:solidFill>
            </a:endParaRPr>
          </a:p>
        </p:txBody>
      </p:sp>
      <p:sp>
        <p:nvSpPr>
          <p:cNvPr id="46083" name="Rectangle 1027">
            <a:extLst>
              <a:ext uri="{FF2B5EF4-FFF2-40B4-BE49-F238E27FC236}">
                <a16:creationId xmlns:a16="http://schemas.microsoft.com/office/drawing/2014/main" id="{201588E1-8F8A-831E-0344-1716CE805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24000"/>
            <a:ext cx="8153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>
                <a:cs typeface="Times New Roman" panose="02020603050405020304" pitchFamily="18" charset="0"/>
              </a:rPr>
              <a:t>Power devices are the key elements of a power</a:t>
            </a:r>
            <a:endParaRPr lang="tr-TR" altLang="en-US" sz="2800"/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US" sz="2800">
                <a:cs typeface="Times New Roman" panose="02020603050405020304" pitchFamily="18" charset="0"/>
              </a:rPr>
              <a:t>converter. The commonly used devices are:</a:t>
            </a:r>
            <a:r>
              <a:rPr lang="en-US" altLang="en-US" sz="2800" b="1"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tr-TR" altLang="en-US"/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1) Power Diode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2) Silicon-Controlled Rectifier (SCR) or Thyristor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US">
                <a:cs typeface="Times New Roman" panose="02020603050405020304" pitchFamily="18" charset="0"/>
              </a:rPr>
              <a:t>3) Gate Turn-off Thyristor (GTO)</a:t>
            </a:r>
            <a:endParaRPr lang="en-US" altLang="en-US"/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4) Power Bipolar Junction Transistor (Power BJT)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5) Power Metal-Oxide Field-Effect Transistor (Power MOSFET)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US"/>
              <a:t>6) Insulated-Gate Bipolar Transistor (IGBT)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en-US">
                <a:cs typeface="Times New Roman" panose="02020603050405020304" pitchFamily="18" charset="0"/>
              </a:rPr>
              <a:t>7) Mos-Controlled Thyristor (MCT)</a:t>
            </a:r>
            <a:endParaRPr lang="en-US" altLang="en-US"/>
          </a:p>
        </p:txBody>
      </p:sp>
      <p:sp>
        <p:nvSpPr>
          <p:cNvPr id="46084" name="Rectangle 1028">
            <a:extLst>
              <a:ext uri="{FF2B5EF4-FFF2-40B4-BE49-F238E27FC236}">
                <a16:creationId xmlns:a16="http://schemas.microsoft.com/office/drawing/2014/main" id="{7F7828F2-F396-EF71-3E48-919593BC5A4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88913"/>
            <a:ext cx="7772400" cy="1143000"/>
          </a:xfrm>
        </p:spPr>
        <p:txBody>
          <a:bodyPr/>
          <a:lstStyle/>
          <a:p>
            <a:r>
              <a:rPr lang="en-US" altLang="en-US" sz="3600" b="1"/>
              <a:t>Power Semiconductor Devices</a:t>
            </a:r>
            <a:endParaRPr lang="tr-TR" altLang="en-US" sz="36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7BB41C73-F565-C8A8-18A0-309F8DE67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82296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tr-TR" altLang="en-US" sz="3600" b="1">
                <a:solidFill>
                  <a:schemeClr val="tx2"/>
                </a:solidFill>
              </a:rPr>
              <a:t>D</a:t>
            </a:r>
            <a:r>
              <a:rPr lang="en-GB" altLang="en-US" sz="3600" b="1">
                <a:solidFill>
                  <a:schemeClr val="tx2"/>
                </a:solidFill>
              </a:rPr>
              <a:t>iode</a:t>
            </a:r>
          </a:p>
        </p:txBody>
      </p:sp>
      <p:grpSp>
        <p:nvGrpSpPr>
          <p:cNvPr id="7172" name="Group 4">
            <a:extLst>
              <a:ext uri="{FF2B5EF4-FFF2-40B4-BE49-F238E27FC236}">
                <a16:creationId xmlns:a16="http://schemas.microsoft.com/office/drawing/2014/main" id="{A305773A-4D98-8AB5-7494-F964D327B6C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990600"/>
            <a:ext cx="2520950" cy="1476375"/>
            <a:chOff x="5233" y="2529"/>
            <a:chExt cx="1173" cy="586"/>
          </a:xfrm>
        </p:grpSpPr>
        <p:grpSp>
          <p:nvGrpSpPr>
            <p:cNvPr id="7173" name="Group 5">
              <a:extLst>
                <a:ext uri="{FF2B5EF4-FFF2-40B4-BE49-F238E27FC236}">
                  <a16:creationId xmlns:a16="http://schemas.microsoft.com/office/drawing/2014/main" id="{A4A213C1-0F55-F35E-6965-2F1D64896A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3" y="2529"/>
              <a:ext cx="1173" cy="586"/>
              <a:chOff x="5233" y="2529"/>
              <a:chExt cx="1173" cy="586"/>
            </a:xfrm>
          </p:grpSpPr>
          <p:sp>
            <p:nvSpPr>
              <p:cNvPr id="7174" name="Line 6">
                <a:extLst>
                  <a:ext uri="{FF2B5EF4-FFF2-40B4-BE49-F238E27FC236}">
                    <a16:creationId xmlns:a16="http://schemas.microsoft.com/office/drawing/2014/main" id="{E2219516-C3B2-480A-1B84-8ACFE451F4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4" y="2529"/>
                <a:ext cx="1" cy="58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175" name="Line 7">
                <a:extLst>
                  <a:ext uri="{FF2B5EF4-FFF2-40B4-BE49-F238E27FC236}">
                    <a16:creationId xmlns:a16="http://schemas.microsoft.com/office/drawing/2014/main" id="{CCBCD6F2-1BB8-8847-FAD9-F6B739B1D4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25" y="2529"/>
                <a:ext cx="462" cy="27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176" name="Line 8">
                <a:extLst>
                  <a:ext uri="{FF2B5EF4-FFF2-40B4-BE49-F238E27FC236}">
                    <a16:creationId xmlns:a16="http://schemas.microsoft.com/office/drawing/2014/main" id="{59237B9D-D8A4-FB76-FD7E-5A413E741C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625" y="2807"/>
                <a:ext cx="462" cy="30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177" name="Line 9">
                <a:extLst>
                  <a:ext uri="{FF2B5EF4-FFF2-40B4-BE49-F238E27FC236}">
                    <a16:creationId xmlns:a16="http://schemas.microsoft.com/office/drawing/2014/main" id="{924E5B5E-9730-79F4-9804-7C49C7FAF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33" y="2807"/>
                <a:ext cx="391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178" name="Line 10">
                <a:extLst>
                  <a:ext uri="{FF2B5EF4-FFF2-40B4-BE49-F238E27FC236}">
                    <a16:creationId xmlns:a16="http://schemas.microsoft.com/office/drawing/2014/main" id="{FE70B2CD-A8A8-7FCF-74EE-2EFCD927AF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7" y="2807"/>
                <a:ext cx="319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7179" name="Line 11">
              <a:extLst>
                <a:ext uri="{FF2B5EF4-FFF2-40B4-BE49-F238E27FC236}">
                  <a16:creationId xmlns:a16="http://schemas.microsoft.com/office/drawing/2014/main" id="{39CA6DB0-1E88-080D-FC6B-62033BE80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7" y="2529"/>
              <a:ext cx="2" cy="586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7181" name="Object 13">
            <a:extLst>
              <a:ext uri="{FF2B5EF4-FFF2-40B4-BE49-F238E27FC236}">
                <a16:creationId xmlns:a16="http://schemas.microsoft.com/office/drawing/2014/main" id="{00B9C6E0-69EE-B8AC-907B-885F8807ED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3200400"/>
          <a:ext cx="3101975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509920" imgH="2588400" progId="Visio.Drawing.5">
                  <p:embed/>
                </p:oleObj>
              </mc:Choice>
              <mc:Fallback>
                <p:oleObj name="VISIO" r:id="rId2" imgW="2509920" imgH="2588400" progId="Visio.Drawing.5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200400"/>
                        <a:ext cx="3101975" cy="320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2" name="Rectangle 14">
            <a:extLst>
              <a:ext uri="{FF2B5EF4-FFF2-40B4-BE49-F238E27FC236}">
                <a16:creationId xmlns:a16="http://schemas.microsoft.com/office/drawing/2014/main" id="{FC5ADCCF-7E8A-178E-F632-2259D15AE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914400"/>
            <a:ext cx="3886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endParaRPr lang="ko-KR" altLang="ko-KR">
              <a:ea typeface="굴림" pitchFamily="50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Uncontrollable switch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ko-KR">
                <a:ea typeface="굴림" pitchFamily="50" charset="-128"/>
              </a:rPr>
              <a:t>On &amp; off are determined by current in the circuit.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ko-KR">
              <a:ea typeface="굴림" pitchFamily="50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Conduct positive on-state current.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ko-KR">
              <a:ea typeface="굴림" pitchFamily="50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Block negative off-state voltage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640E86B-A5B7-77CA-C1B8-7F0F068F0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400" y="152400"/>
            <a:ext cx="95250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tr-TR" altLang="en-US" sz="3600" b="1">
                <a:solidFill>
                  <a:schemeClr val="tx2"/>
                </a:solidFill>
              </a:rPr>
              <a:t>T</a:t>
            </a:r>
            <a:r>
              <a:rPr lang="en-GB" altLang="en-US" sz="3600" b="1">
                <a:solidFill>
                  <a:schemeClr val="tx2"/>
                </a:solidFill>
              </a:rPr>
              <a:t>hyristor</a:t>
            </a:r>
            <a:r>
              <a:rPr lang="tr-TR" altLang="en-US" sz="3600" b="1">
                <a:solidFill>
                  <a:schemeClr val="tx2"/>
                </a:solidFill>
              </a:rPr>
              <a:t> (SCR )</a:t>
            </a:r>
            <a:endParaRPr lang="en-GB" altLang="en-US" sz="3600" b="1">
              <a:solidFill>
                <a:schemeClr val="tx2"/>
              </a:solidFill>
              <a:ea typeface="굴림" pitchFamily="50" charset="-128"/>
            </a:endParaRPr>
          </a:p>
        </p:txBody>
      </p:sp>
      <p:grpSp>
        <p:nvGrpSpPr>
          <p:cNvPr id="8196" name="Group 4">
            <a:extLst>
              <a:ext uri="{FF2B5EF4-FFF2-40B4-BE49-F238E27FC236}">
                <a16:creationId xmlns:a16="http://schemas.microsoft.com/office/drawing/2014/main" id="{841C5B9F-92AE-917C-9274-183FB2C84BAB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914400"/>
            <a:ext cx="1908175" cy="1368425"/>
            <a:chOff x="2086" y="1139"/>
            <a:chExt cx="1633" cy="1112"/>
          </a:xfrm>
        </p:grpSpPr>
        <p:grpSp>
          <p:nvGrpSpPr>
            <p:cNvPr id="8197" name="Group 5">
              <a:extLst>
                <a:ext uri="{FF2B5EF4-FFF2-40B4-BE49-F238E27FC236}">
                  <a16:creationId xmlns:a16="http://schemas.microsoft.com/office/drawing/2014/main" id="{CBCD58D4-4B55-C15D-CB07-B8453C1D6F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6" y="1253"/>
              <a:ext cx="1633" cy="998"/>
              <a:chOff x="5233" y="2529"/>
              <a:chExt cx="1173" cy="586"/>
            </a:xfrm>
          </p:grpSpPr>
          <p:grpSp>
            <p:nvGrpSpPr>
              <p:cNvPr id="8198" name="Group 6">
                <a:extLst>
                  <a:ext uri="{FF2B5EF4-FFF2-40B4-BE49-F238E27FC236}">
                    <a16:creationId xmlns:a16="http://schemas.microsoft.com/office/drawing/2014/main" id="{AB867BF6-F041-48BA-E18E-B617E3EB8C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33" y="2529"/>
                <a:ext cx="1173" cy="586"/>
                <a:chOff x="5233" y="2529"/>
                <a:chExt cx="1173" cy="586"/>
              </a:xfrm>
            </p:grpSpPr>
            <p:sp>
              <p:nvSpPr>
                <p:cNvPr id="8199" name="Line 7">
                  <a:extLst>
                    <a:ext uri="{FF2B5EF4-FFF2-40B4-BE49-F238E27FC236}">
                      <a16:creationId xmlns:a16="http://schemas.microsoft.com/office/drawing/2014/main" id="{5C275E81-32D5-97DE-E529-569537CE39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24" y="2529"/>
                  <a:ext cx="1" cy="58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200" name="Line 8">
                  <a:extLst>
                    <a:ext uri="{FF2B5EF4-FFF2-40B4-BE49-F238E27FC236}">
                      <a16:creationId xmlns:a16="http://schemas.microsoft.com/office/drawing/2014/main" id="{A5439C25-758E-ED2F-0F85-2BEEE05083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25" y="2529"/>
                  <a:ext cx="462" cy="27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201" name="Line 9">
                  <a:extLst>
                    <a:ext uri="{FF2B5EF4-FFF2-40B4-BE49-F238E27FC236}">
                      <a16:creationId xmlns:a16="http://schemas.microsoft.com/office/drawing/2014/main" id="{6461E34B-1D63-BBF9-E1E0-B561296566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625" y="2807"/>
                  <a:ext cx="462" cy="30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202" name="Line 10">
                  <a:extLst>
                    <a:ext uri="{FF2B5EF4-FFF2-40B4-BE49-F238E27FC236}">
                      <a16:creationId xmlns:a16="http://schemas.microsoft.com/office/drawing/2014/main" id="{200036D6-AF2F-8F4A-0A76-1D5F5FA0FF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33" y="2807"/>
                  <a:ext cx="391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8203" name="Line 11">
                  <a:extLst>
                    <a:ext uri="{FF2B5EF4-FFF2-40B4-BE49-F238E27FC236}">
                      <a16:creationId xmlns:a16="http://schemas.microsoft.com/office/drawing/2014/main" id="{F6B3336F-F247-A550-3767-5797EF3D67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087" y="2807"/>
                  <a:ext cx="319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8204" name="Line 12">
                <a:extLst>
                  <a:ext uri="{FF2B5EF4-FFF2-40B4-BE49-F238E27FC236}">
                    <a16:creationId xmlns:a16="http://schemas.microsoft.com/office/drawing/2014/main" id="{E1C1DDB9-D336-0B32-1934-60B85B6A7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87" y="2529"/>
                <a:ext cx="2" cy="58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8205" name="Line 13">
              <a:extLst>
                <a:ext uri="{FF2B5EF4-FFF2-40B4-BE49-F238E27FC236}">
                  <a16:creationId xmlns:a16="http://schemas.microsoft.com/office/drawing/2014/main" id="{258CE400-0FCE-4E61-6C54-AC1D3E6310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8" y="1139"/>
              <a:ext cx="227" cy="5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208" name="Rectangle 16">
            <a:extLst>
              <a:ext uri="{FF2B5EF4-FFF2-40B4-BE49-F238E27FC236}">
                <a16:creationId xmlns:a16="http://schemas.microsoft.com/office/drawing/2014/main" id="{DD00BD47-677B-5228-4532-A92B43895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066800"/>
            <a:ext cx="4224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tr-TR" altLang="en-US">
                <a:solidFill>
                  <a:schemeClr val="tx2"/>
                </a:solidFill>
              </a:rPr>
              <a:t>SCR:</a:t>
            </a:r>
            <a:r>
              <a:rPr lang="en-US" altLang="ko-KR">
                <a:solidFill>
                  <a:schemeClr val="tx2"/>
                </a:solidFill>
                <a:ea typeface="굴림" pitchFamily="50" charset="-128"/>
              </a:rPr>
              <a:t>Silicon Controlled Rectifier</a:t>
            </a:r>
            <a:endParaRPr lang="tr-TR" altLang="en-US">
              <a:solidFill>
                <a:schemeClr val="tx2"/>
              </a:solidFill>
              <a:ea typeface="굴림" pitchFamily="50" charset="-128"/>
            </a:endParaRPr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61871AAE-F2D2-0CE2-3C98-EDC298642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81200"/>
            <a:ext cx="48006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Semi-controllable switch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ko-KR">
                <a:ea typeface="굴림" pitchFamily="50" charset="-128"/>
              </a:rPr>
              <a:t>Turn on by positive current pulse trains if v &gt;0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ko-KR">
                <a:ea typeface="굴림" pitchFamily="50" charset="-128"/>
              </a:rPr>
              <a:t>Uncontrollable turn off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ko-KR">
                <a:ea typeface="굴림" pitchFamily="50" charset="-128"/>
              </a:rPr>
              <a:t>Needs commutation circuit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Conduct positive on-state current.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Block positive &amp; negative off-state voltage. </a:t>
            </a:r>
          </a:p>
        </p:txBody>
      </p:sp>
      <p:sp>
        <p:nvSpPr>
          <p:cNvPr id="8210" name="Line 18">
            <a:extLst>
              <a:ext uri="{FF2B5EF4-FFF2-40B4-BE49-F238E27FC236}">
                <a16:creationId xmlns:a16="http://schemas.microsoft.com/office/drawing/2014/main" id="{F884D1B3-E5A5-7959-9B29-8795EC6F99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2971800"/>
            <a:ext cx="0" cy="2808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1" name="Line 19">
            <a:extLst>
              <a:ext uri="{FF2B5EF4-FFF2-40B4-BE49-F238E27FC236}">
                <a16:creationId xmlns:a16="http://schemas.microsoft.com/office/drawing/2014/main" id="{05E59E79-9FFB-8734-1F47-3FAB49D9C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7475" y="5059363"/>
            <a:ext cx="3600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2" name="Line 20">
            <a:extLst>
              <a:ext uri="{FF2B5EF4-FFF2-40B4-BE49-F238E27FC236}">
                <a16:creationId xmlns:a16="http://schemas.microsoft.com/office/drawing/2014/main" id="{CA8EC792-91A5-4C33-D047-7B512AB3D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7475" y="5130800"/>
            <a:ext cx="15128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3" name="Line 21">
            <a:extLst>
              <a:ext uri="{FF2B5EF4-FFF2-40B4-BE49-F238E27FC236}">
                <a16:creationId xmlns:a16="http://schemas.microsoft.com/office/drawing/2014/main" id="{16252FEF-F520-C05C-2A7E-8F4099DDB7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10363" y="4987925"/>
            <a:ext cx="142875" cy="142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4" name="Arc 22">
            <a:extLst>
              <a:ext uri="{FF2B5EF4-FFF2-40B4-BE49-F238E27FC236}">
                <a16:creationId xmlns:a16="http://schemas.microsoft.com/office/drawing/2014/main" id="{8D1D19D4-C704-5AEC-2F24-B72C7113B865}"/>
              </a:ext>
            </a:extLst>
          </p:cNvPr>
          <p:cNvSpPr>
            <a:spLocks/>
          </p:cNvSpPr>
          <p:nvPr/>
        </p:nvSpPr>
        <p:spPr bwMode="auto">
          <a:xfrm flipV="1">
            <a:off x="6853238" y="4843463"/>
            <a:ext cx="1657350" cy="14605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3484"/>
              <a:gd name="T2" fmla="*/ 21518 w 21600"/>
              <a:gd name="T3" fmla="*/ 23484 h 23484"/>
              <a:gd name="T4" fmla="*/ 0 w 21600"/>
              <a:gd name="T5" fmla="*/ 21600 h 23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484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28"/>
                  <a:pt x="21572" y="22857"/>
                  <a:pt x="21517" y="23483"/>
                </a:cubicBezTo>
              </a:path>
              <a:path w="21600" h="23484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28"/>
                  <a:pt x="21572" y="22857"/>
                  <a:pt x="21517" y="23483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15" name="Arc 23">
            <a:extLst>
              <a:ext uri="{FF2B5EF4-FFF2-40B4-BE49-F238E27FC236}">
                <a16:creationId xmlns:a16="http://schemas.microsoft.com/office/drawing/2014/main" id="{D27AE8E5-FCAC-EF21-FF0C-B59B97AA62CC}"/>
              </a:ext>
            </a:extLst>
          </p:cNvPr>
          <p:cNvSpPr>
            <a:spLocks/>
          </p:cNvSpPr>
          <p:nvPr/>
        </p:nvSpPr>
        <p:spPr bwMode="auto">
          <a:xfrm>
            <a:off x="6853238" y="4699000"/>
            <a:ext cx="1657350" cy="1444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3484"/>
              <a:gd name="T2" fmla="*/ 21518 w 21600"/>
              <a:gd name="T3" fmla="*/ 23484 h 23484"/>
              <a:gd name="T4" fmla="*/ 0 w 21600"/>
              <a:gd name="T5" fmla="*/ 21600 h 234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484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28"/>
                  <a:pt x="21572" y="22857"/>
                  <a:pt x="21517" y="23483"/>
                </a:cubicBezTo>
              </a:path>
              <a:path w="21600" h="23484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28"/>
                  <a:pt x="21572" y="22857"/>
                  <a:pt x="21517" y="23483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216" name="Line 24">
            <a:extLst>
              <a:ext uri="{FF2B5EF4-FFF2-40B4-BE49-F238E27FC236}">
                <a16:creationId xmlns:a16="http://schemas.microsoft.com/office/drawing/2014/main" id="{304BF329-6A1A-44AE-B1BD-3887F0ED5E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3238" y="2971800"/>
            <a:ext cx="85725" cy="172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217" name="Text Box 25">
            <a:extLst>
              <a:ext uri="{FF2B5EF4-FFF2-40B4-BE49-F238E27FC236}">
                <a16:creationId xmlns:a16="http://schemas.microsoft.com/office/drawing/2014/main" id="{BA57E2DC-C75E-1878-4722-D4C21E226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363" y="3835400"/>
            <a:ext cx="129698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sv-SE" altLang="en-US" sz="1600">
                <a:latin typeface="Arial" panose="020B0604020202020204" pitchFamily="34" charset="0"/>
              </a:rPr>
              <a:t>On state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8218" name="Text Box 26">
            <a:extLst>
              <a:ext uri="{FF2B5EF4-FFF2-40B4-BE49-F238E27FC236}">
                <a16:creationId xmlns:a16="http://schemas.microsoft.com/office/drawing/2014/main" id="{829563A0-1382-945A-9AB0-92DE347AD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0963" y="4386263"/>
            <a:ext cx="122396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sv-SE" altLang="en-US" sz="1600">
                <a:latin typeface="Arial" panose="020B0604020202020204" pitchFamily="34" charset="0"/>
              </a:rPr>
              <a:t>Off state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8219" name="Text Box 27">
            <a:extLst>
              <a:ext uri="{FF2B5EF4-FFF2-40B4-BE49-F238E27FC236}">
                <a16:creationId xmlns:a16="http://schemas.microsoft.com/office/drawing/2014/main" id="{9AFBD29B-033D-7770-BAA6-B261A9F21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257800"/>
            <a:ext cx="165735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sv-SE" altLang="en-US" sz="1600">
                <a:latin typeface="Arial" panose="020B0604020202020204" pitchFamily="34" charset="0"/>
              </a:rPr>
              <a:t>Reversed blocked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8220" name="Text Box 28">
            <a:extLst>
              <a:ext uri="{FF2B5EF4-FFF2-40B4-BE49-F238E27FC236}">
                <a16:creationId xmlns:a16="http://schemas.microsoft.com/office/drawing/2014/main" id="{B3A3B663-8728-2047-44B4-AFEF35CE6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4463" y="2611438"/>
            <a:ext cx="503237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tr-TR" altLang="en-US" sz="1600">
                <a:latin typeface="Arial" panose="020B0604020202020204" pitchFamily="34" charset="0"/>
              </a:rPr>
              <a:t>i</a:t>
            </a:r>
            <a:endParaRPr lang="en-US" altLang="en-US" sz="1600">
              <a:latin typeface="Arial" panose="020B0604020202020204" pitchFamily="34" charset="0"/>
            </a:endParaRPr>
          </a:p>
        </p:txBody>
      </p:sp>
      <p:sp>
        <p:nvSpPr>
          <p:cNvPr id="8221" name="Text Box 29">
            <a:extLst>
              <a:ext uri="{FF2B5EF4-FFF2-40B4-BE49-F238E27FC236}">
                <a16:creationId xmlns:a16="http://schemas.microsoft.com/office/drawing/2014/main" id="{7F7ABF08-262C-2515-7682-3BEDCA274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200" y="4876800"/>
            <a:ext cx="50323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tr-TR" altLang="en-US" sz="1600">
                <a:latin typeface="Arial" panose="020B0604020202020204" pitchFamily="34" charset="0"/>
              </a:rPr>
              <a:t>V</a:t>
            </a:r>
            <a:endParaRPr lang="en-US" altLang="en-US" sz="16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2" name="Picture 4">
            <a:extLst>
              <a:ext uri="{FF2B5EF4-FFF2-40B4-BE49-F238E27FC236}">
                <a16:creationId xmlns:a16="http://schemas.microsoft.com/office/drawing/2014/main" id="{DC9051CC-E06A-84D9-B09E-8A392F8E95E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03" y="2249488"/>
            <a:ext cx="3592307" cy="35417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3254" name="Picture 6">
            <a:extLst>
              <a:ext uri="{FF2B5EF4-FFF2-40B4-BE49-F238E27FC236}">
                <a16:creationId xmlns:a16="http://schemas.microsoft.com/office/drawing/2014/main" id="{454B621D-548F-1F63-18DC-CA3700B5EE4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11413" y="476250"/>
            <a:ext cx="3810000" cy="22225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3257" name="Text Box 9">
            <a:extLst>
              <a:ext uri="{FF2B5EF4-FFF2-40B4-BE49-F238E27FC236}">
                <a16:creationId xmlns:a16="http://schemas.microsoft.com/office/drawing/2014/main" id="{047D2567-4612-CFEB-A53B-AA56FF135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4813"/>
            <a:ext cx="1512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 b="1"/>
              <a:t>Example</a:t>
            </a:r>
          </a:p>
        </p:txBody>
      </p:sp>
      <p:sp>
        <p:nvSpPr>
          <p:cNvPr id="53258" name="Text Box 10">
            <a:extLst>
              <a:ext uri="{FF2B5EF4-FFF2-40B4-BE49-F238E27FC236}">
                <a16:creationId xmlns:a16="http://schemas.microsoft.com/office/drawing/2014/main" id="{60E951F1-28B2-149F-1781-B8879A416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1052513"/>
            <a:ext cx="2089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/>
              <a:t>Vs=Vo sinwt</a:t>
            </a:r>
          </a:p>
        </p:txBody>
      </p:sp>
      <p:sp>
        <p:nvSpPr>
          <p:cNvPr id="53259" name="Line 11">
            <a:extLst>
              <a:ext uri="{FF2B5EF4-FFF2-40B4-BE49-F238E27FC236}">
                <a16:creationId xmlns:a16="http://schemas.microsoft.com/office/drawing/2014/main" id="{31A483A3-ACED-66DF-1389-1C3F6388273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8975" y="333375"/>
            <a:ext cx="504825" cy="71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60" name="Text Box 12">
            <a:extLst>
              <a:ext uri="{FF2B5EF4-FFF2-40B4-BE49-F238E27FC236}">
                <a16:creationId xmlns:a16="http://schemas.microsoft.com/office/drawing/2014/main" id="{663FE753-D318-53A6-1513-F30B993AB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188913"/>
            <a:ext cx="86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 sz="1400"/>
              <a:t>SCR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D90B3DD4-8191-8C49-4128-A7E59807F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tr-TR" altLang="en-US" sz="3600" b="1">
                <a:solidFill>
                  <a:schemeClr val="tx2"/>
                </a:solidFill>
              </a:rPr>
              <a:t>Gate Turn-Off (GTO) Thyristor</a:t>
            </a:r>
            <a:r>
              <a:rPr lang="tr-TR" altLang="en-US" sz="3600">
                <a:solidFill>
                  <a:schemeClr val="tx2"/>
                </a:solidFill>
              </a:rPr>
              <a:t> </a:t>
            </a:r>
            <a:endParaRPr lang="en-GB" altLang="en-US" sz="3600">
              <a:solidFill>
                <a:schemeClr val="tx2"/>
              </a:solidFill>
            </a:endParaRPr>
          </a:p>
        </p:txBody>
      </p:sp>
      <p:sp>
        <p:nvSpPr>
          <p:cNvPr id="32786" name="Text Box 18">
            <a:extLst>
              <a:ext uri="{FF2B5EF4-FFF2-40B4-BE49-F238E27FC236}">
                <a16:creationId xmlns:a16="http://schemas.microsoft.com/office/drawing/2014/main" id="{9743A519-EE50-5357-E6B0-00B0FAAEE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95400"/>
            <a:ext cx="5410200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tr-TR" altLang="en-US"/>
              <a:t>  By applying a positive current to gate of GTO, it switches from off state to on state.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US"/>
              <a:t>  By applying a negative current to gate of GTO, it switches from on state to off state.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US"/>
              <a:t>  GTO can be turned off with a negative gate current.</a:t>
            </a:r>
          </a:p>
        </p:txBody>
      </p:sp>
      <p:pic>
        <p:nvPicPr>
          <p:cNvPr id="32787" name="Picture 19">
            <a:extLst>
              <a:ext uri="{FF2B5EF4-FFF2-40B4-BE49-F238E27FC236}">
                <a16:creationId xmlns:a16="http://schemas.microsoft.com/office/drawing/2014/main" id="{1F841697-46F7-58A9-748C-D978CE7DC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219200"/>
            <a:ext cx="2663825" cy="1954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8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>
            <a:extLst>
              <a:ext uri="{FF2B5EF4-FFF2-40B4-BE49-F238E27FC236}">
                <a16:creationId xmlns:a16="http://schemas.microsoft.com/office/drawing/2014/main" id="{11BF37AB-3CBA-7DDA-DB5A-8E4949AFC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28600"/>
            <a:ext cx="82296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ko-KR" sz="3600" b="1">
                <a:solidFill>
                  <a:schemeClr val="tx2"/>
                </a:solidFill>
                <a:ea typeface="굴림" pitchFamily="50" charset="-128"/>
              </a:rPr>
              <a:t>Bipolar Junction Transistor (BJT)</a:t>
            </a:r>
            <a:endParaRPr lang="en-GB" altLang="en-US" sz="3600" b="1">
              <a:solidFill>
                <a:schemeClr val="tx2"/>
              </a:solidFill>
              <a:ea typeface="굴림" pitchFamily="50" charset="-128"/>
            </a:endParaRP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71B61594-F5D2-6977-E2D2-20D60951A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1196975"/>
            <a:ext cx="54864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endParaRPr lang="ko-KR" altLang="ko-KR">
              <a:ea typeface="굴림" pitchFamily="50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Controllable switch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ko-KR">
                <a:ea typeface="굴림" pitchFamily="50" charset="-128"/>
              </a:rPr>
              <a:t>Base current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ko-KR">
                <a:ea typeface="굴림" pitchFamily="50" charset="-128"/>
              </a:rPr>
              <a:t>Cutoff &amp; saturation regions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ko-KR">
              <a:ea typeface="굴림" pitchFamily="50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Conduct positive on-state current.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ko-KR">
              <a:ea typeface="굴림" pitchFamily="50" charset="-128"/>
            </a:endParaRP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Block positive off-state voltage</a:t>
            </a:r>
          </a:p>
        </p:txBody>
      </p:sp>
      <p:pic>
        <p:nvPicPr>
          <p:cNvPr id="37897" name="Picture 9">
            <a:extLst>
              <a:ext uri="{FF2B5EF4-FFF2-40B4-BE49-F238E27FC236}">
                <a16:creationId xmlns:a16="http://schemas.microsoft.com/office/drawing/2014/main" id="{4C242D2E-B548-A173-2CBE-09DD1CD5F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341438"/>
            <a:ext cx="2881312" cy="240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B79F8AAF-C77C-0360-8385-FF6B4524D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57200" y="228600"/>
            <a:ext cx="100584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ko-KR" sz="3600" b="1">
                <a:solidFill>
                  <a:schemeClr val="tx2"/>
                </a:solidFill>
                <a:ea typeface="굴림" pitchFamily="50" charset="-128"/>
              </a:rPr>
              <a:t>MOSFET</a:t>
            </a:r>
            <a:endParaRPr lang="en-GB" altLang="en-US" b="1">
              <a:solidFill>
                <a:schemeClr val="tx2"/>
              </a:solidFill>
              <a:ea typeface="굴림" pitchFamily="50" charset="-128"/>
            </a:endParaRP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C2B880B2-F849-B7FD-09AA-DC46E7859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295400"/>
            <a:ext cx="4953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tr-TR" altLang="ko-KR">
                <a:solidFill>
                  <a:schemeClr val="tx2"/>
                </a:solidFill>
              </a:rPr>
              <a:t>MOSFET : </a:t>
            </a:r>
            <a:r>
              <a:rPr lang="en-US" altLang="ko-KR">
                <a:solidFill>
                  <a:schemeClr val="tx2"/>
                </a:solidFill>
                <a:ea typeface="굴림" pitchFamily="50" charset="-128"/>
              </a:rPr>
              <a:t>Metal-Oxide Semiconductor Field Effect Transistor</a:t>
            </a:r>
            <a:endParaRPr lang="tr-TR" altLang="en-US">
              <a:solidFill>
                <a:schemeClr val="tx2"/>
              </a:solidFill>
              <a:ea typeface="굴림" pitchFamily="50" charset="-128"/>
            </a:endParaRPr>
          </a:p>
        </p:txBody>
      </p:sp>
      <p:pic>
        <p:nvPicPr>
          <p:cNvPr id="51204" name="Picture 4">
            <a:extLst>
              <a:ext uri="{FF2B5EF4-FFF2-40B4-BE49-F238E27FC236}">
                <a16:creationId xmlns:a16="http://schemas.microsoft.com/office/drawing/2014/main" id="{AAD96537-0A3D-3251-D121-D6064A7DF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990600"/>
            <a:ext cx="2633663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05" name="Rectangle 5">
            <a:extLst>
              <a:ext uri="{FF2B5EF4-FFF2-40B4-BE49-F238E27FC236}">
                <a16:creationId xmlns:a16="http://schemas.microsoft.com/office/drawing/2014/main" id="{124C2BA9-AD71-52C6-1424-69F69DBA3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19400"/>
            <a:ext cx="54864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Controllable switch</a:t>
            </a:r>
          </a:p>
          <a:p>
            <a:pPr lvl="1">
              <a:spcBef>
                <a:spcPct val="20000"/>
              </a:spcBef>
              <a:buFontTx/>
              <a:buChar char="–"/>
            </a:pPr>
            <a:r>
              <a:rPr lang="en-US" altLang="ko-KR">
                <a:ea typeface="굴림" pitchFamily="50" charset="-128"/>
              </a:rPr>
              <a:t>Gate voltage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Free-wheeling diode is embedded internally.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Conduct positive on-state current (can also conduct negative current).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ko-KR">
                <a:ea typeface="굴림" pitchFamily="50" charset="-128"/>
              </a:rPr>
              <a:t>Block positive off-state voltage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BE546B6-246C-D041-D4E8-DC3E3919B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4800"/>
            <a:ext cx="82296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tr-TR" altLang="en-US" sz="3600" b="1">
                <a:solidFill>
                  <a:schemeClr val="tx2"/>
                </a:solidFill>
              </a:rPr>
              <a:t>IGBT</a:t>
            </a:r>
            <a:endParaRPr lang="en-GB" altLang="en-US" sz="3600" b="1">
              <a:solidFill>
                <a:schemeClr val="tx2"/>
              </a:solidFill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4F5AEB4-CB4C-3A41-F645-C89043EB1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47800"/>
            <a:ext cx="8229600" cy="4678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endParaRPr lang="en-GB" altLang="en-US"/>
          </a:p>
          <a:p>
            <a:endParaRPr lang="en-GB" altLang="en-US"/>
          </a:p>
        </p:txBody>
      </p:sp>
      <p:sp>
        <p:nvSpPr>
          <p:cNvPr id="9227" name="Text Box 11">
            <a:extLst>
              <a:ext uri="{FF2B5EF4-FFF2-40B4-BE49-F238E27FC236}">
                <a16:creationId xmlns:a16="http://schemas.microsoft.com/office/drawing/2014/main" id="{2F70273C-D5B9-C2C8-A53F-0ED197D57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133600"/>
            <a:ext cx="6048375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GB" altLang="en-US">
                <a:latin typeface="Palatino" pitchFamily="18" charset="0"/>
                <a:cs typeface="Arial" panose="020B0604020202020204" pitchFamily="34" charset="0"/>
              </a:rPr>
              <a:t>gate controls conduction, switching the device on and off;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 altLang="en-US">
                <a:latin typeface="Palatino" pitchFamily="18" charset="0"/>
                <a:cs typeface="Arial" panose="020B0604020202020204" pitchFamily="34" charset="0"/>
              </a:rPr>
              <a:t>far faster than thyrisitor, can operate at 10s kHz;</a:t>
            </a:r>
          </a:p>
        </p:txBody>
      </p:sp>
      <p:sp>
        <p:nvSpPr>
          <p:cNvPr id="9228" name="Text Box 12">
            <a:extLst>
              <a:ext uri="{FF2B5EF4-FFF2-40B4-BE49-F238E27FC236}">
                <a16:creationId xmlns:a16="http://schemas.microsoft.com/office/drawing/2014/main" id="{B5B3F07C-4236-B55C-E13C-715650A1F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038600"/>
            <a:ext cx="8208963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GB" altLang="en-US">
                <a:latin typeface="Palatino" pitchFamily="18" charset="0"/>
                <a:cs typeface="Arial" panose="020B0604020202020204" pitchFamily="34" charset="0"/>
              </a:rPr>
              <a:t>is a transistor, so will not take reverse voltage (usually a built-in reverse diode;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 altLang="en-US">
                <a:latin typeface="Palatino" pitchFamily="18" charset="0"/>
                <a:cs typeface="Arial" panose="020B0604020202020204" pitchFamily="34" charset="0"/>
              </a:rPr>
              <a:t>dissipates significant power during switching;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GB" altLang="en-US">
                <a:latin typeface="Palatino" pitchFamily="18" charset="0"/>
                <a:cs typeface="Arial" panose="020B0604020202020204" pitchFamily="34" charset="0"/>
              </a:rPr>
              <a:t>is available at up to 1 kV forward, 100s A average.</a:t>
            </a:r>
          </a:p>
        </p:txBody>
      </p:sp>
      <p:sp>
        <p:nvSpPr>
          <p:cNvPr id="9232" name="Rectangle 16">
            <a:extLst>
              <a:ext uri="{FF2B5EF4-FFF2-40B4-BE49-F238E27FC236}">
                <a16:creationId xmlns:a16="http://schemas.microsoft.com/office/drawing/2014/main" id="{8DCF60DE-CA1D-693D-FA30-B4D641F1C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2192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tr-TR" altLang="ko-KR">
                <a:solidFill>
                  <a:schemeClr val="tx2"/>
                </a:solidFill>
              </a:rPr>
              <a:t>IGBT : </a:t>
            </a:r>
            <a:r>
              <a:rPr lang="tr-TR" altLang="en-US"/>
              <a:t>I</a:t>
            </a:r>
            <a:r>
              <a:rPr lang="en-GB" altLang="en-US"/>
              <a:t>nsulated </a:t>
            </a:r>
            <a:r>
              <a:rPr lang="tr-TR" altLang="en-US"/>
              <a:t>G</a:t>
            </a:r>
            <a:r>
              <a:rPr lang="en-GB" altLang="en-US"/>
              <a:t>ate </a:t>
            </a:r>
            <a:r>
              <a:rPr lang="tr-TR" altLang="en-US"/>
              <a:t>B</a:t>
            </a:r>
            <a:r>
              <a:rPr lang="en-GB" altLang="en-US"/>
              <a:t>i-polar </a:t>
            </a:r>
            <a:r>
              <a:rPr lang="tr-TR" altLang="en-US"/>
              <a:t>T</a:t>
            </a:r>
            <a:r>
              <a:rPr lang="en-GB" altLang="en-US"/>
              <a:t>ransistor </a:t>
            </a:r>
            <a:endParaRPr lang="tr-TR" altLang="en-US"/>
          </a:p>
        </p:txBody>
      </p:sp>
      <p:pic>
        <p:nvPicPr>
          <p:cNvPr id="9234" name="Picture 18">
            <a:extLst>
              <a:ext uri="{FF2B5EF4-FFF2-40B4-BE49-F238E27FC236}">
                <a16:creationId xmlns:a16="http://schemas.microsoft.com/office/drawing/2014/main" id="{01C1C40A-98F9-AC00-CF81-FE4C757DF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219200"/>
            <a:ext cx="1611313" cy="180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7" grpId="0" autoUpdateAnimBg="0"/>
      <p:bldP spid="9228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5">
            <a:extLst>
              <a:ext uri="{FF2B5EF4-FFF2-40B4-BE49-F238E27FC236}">
                <a16:creationId xmlns:a16="http://schemas.microsoft.com/office/drawing/2014/main" id="{BEAC7CDA-BCF7-D6B4-DC7E-A3BB01D24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04800"/>
            <a:ext cx="8229600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tr-TR" altLang="en-US" sz="3600" b="1">
                <a:solidFill>
                  <a:schemeClr val="tx2"/>
                </a:solidFill>
              </a:rPr>
              <a:t>Triac</a:t>
            </a:r>
            <a:endParaRPr lang="en-GB" altLang="en-US" sz="3600" b="1">
              <a:solidFill>
                <a:schemeClr val="tx2"/>
              </a:solidFill>
            </a:endParaRPr>
          </a:p>
        </p:txBody>
      </p:sp>
      <p:sp>
        <p:nvSpPr>
          <p:cNvPr id="18438" name="Text Box 6">
            <a:extLst>
              <a:ext uri="{FF2B5EF4-FFF2-40B4-BE49-F238E27FC236}">
                <a16:creationId xmlns:a16="http://schemas.microsoft.com/office/drawing/2014/main" id="{5D00BC83-BF08-31B1-ECCC-02A13B450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19200"/>
            <a:ext cx="5410200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tr-TR" altLang="en-US"/>
              <a:t>  If T1-T2 forward biased, it conducts “+” pulse is applied to G.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US"/>
              <a:t>   If T1-T2 reverse biased, it conducts “-” pulse is applied to G.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US"/>
              <a:t>  Triacs are mostly used with resistive loads and at frequencies below 400Hz.</a:t>
            </a:r>
          </a:p>
        </p:txBody>
      </p:sp>
      <p:pic>
        <p:nvPicPr>
          <p:cNvPr id="18440" name="Picture 8">
            <a:extLst>
              <a:ext uri="{FF2B5EF4-FFF2-40B4-BE49-F238E27FC236}">
                <a16:creationId xmlns:a16="http://schemas.microsoft.com/office/drawing/2014/main" id="{F0D5DD88-F2B1-1A3D-95E2-1EED26A89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143000"/>
            <a:ext cx="2525713" cy="281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ADA1C84-FBC2-82BB-866B-7ECD9BB33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endParaRPr lang="en-US" altLang="en-US"/>
          </a:p>
        </p:txBody>
      </p:sp>
      <p:sp>
        <p:nvSpPr>
          <p:cNvPr id="10427" name="Text Box 187">
            <a:extLst>
              <a:ext uri="{FF2B5EF4-FFF2-40B4-BE49-F238E27FC236}">
                <a16:creationId xmlns:a16="http://schemas.microsoft.com/office/drawing/2014/main" id="{6EAD3969-7AC7-F2B8-F8DC-97FB7DDA8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382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GB" altLang="en-US"/>
          </a:p>
        </p:txBody>
      </p:sp>
      <p:pic>
        <p:nvPicPr>
          <p:cNvPr id="10429" name="Picture 189">
            <a:extLst>
              <a:ext uri="{FF2B5EF4-FFF2-40B4-BE49-F238E27FC236}">
                <a16:creationId xmlns:a16="http://schemas.microsoft.com/office/drawing/2014/main" id="{B54F14B4-BC85-11B4-6496-D178487D1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7921625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430" name="Rectangle 190">
            <a:extLst>
              <a:ext uri="{FF2B5EF4-FFF2-40B4-BE49-F238E27FC236}">
                <a16:creationId xmlns:a16="http://schemas.microsoft.com/office/drawing/2014/main" id="{A2CE0975-ED8A-FB4F-ED47-DD30D8E680B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7772400" cy="1143000"/>
          </a:xfrm>
        </p:spPr>
        <p:txBody>
          <a:bodyPr/>
          <a:lstStyle/>
          <a:p>
            <a:r>
              <a:rPr lang="tr-TR" altLang="en-US" sz="3600" b="1">
                <a:solidFill>
                  <a:schemeClr val="tx1"/>
                </a:solidFill>
              </a:rPr>
              <a:t>HALF WAVE RECTIFIERS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434423D6-FE69-2787-33A4-F31E0B760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484313"/>
            <a:ext cx="8281988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7" name="Text Box 3">
            <a:extLst>
              <a:ext uri="{FF2B5EF4-FFF2-40B4-BE49-F238E27FC236}">
                <a16:creationId xmlns:a16="http://schemas.microsoft.com/office/drawing/2014/main" id="{73243C72-6CCD-35EF-1608-B2FE909D2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100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altLang="en-US"/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A595FF3D-F775-A0E4-A635-58C4D39B38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7772400" cy="1143000"/>
          </a:xfrm>
        </p:spPr>
        <p:txBody>
          <a:bodyPr/>
          <a:lstStyle/>
          <a:p>
            <a:r>
              <a:rPr lang="tr-TR" altLang="en-US" sz="3600" b="1">
                <a:solidFill>
                  <a:schemeClr val="tx1"/>
                </a:solidFill>
              </a:rPr>
              <a:t>FULL WAVE MIDPOINT RECTIFIERS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2" name="Picture 4">
            <a:extLst>
              <a:ext uri="{FF2B5EF4-FFF2-40B4-BE49-F238E27FC236}">
                <a16:creationId xmlns:a16="http://schemas.microsoft.com/office/drawing/2014/main" id="{A0F14315-E43B-9E22-094F-F5515ED94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87500"/>
            <a:ext cx="7019925" cy="468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293" name="Rectangle 5">
            <a:extLst>
              <a:ext uri="{FF2B5EF4-FFF2-40B4-BE49-F238E27FC236}">
                <a16:creationId xmlns:a16="http://schemas.microsoft.com/office/drawing/2014/main" id="{7CC9B24C-1374-BF81-478D-F7DBFF1FAB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7772400" cy="1143000"/>
          </a:xfrm>
        </p:spPr>
        <p:txBody>
          <a:bodyPr/>
          <a:lstStyle/>
          <a:p>
            <a:r>
              <a:rPr lang="tr-TR" altLang="en-US" sz="3600" b="1">
                <a:solidFill>
                  <a:schemeClr val="tx1"/>
                </a:solidFill>
              </a:rPr>
              <a:t>FULL WAVE BRIDGE RECTIFIERS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8" name="Picture 16">
            <a:extLst>
              <a:ext uri="{FF2B5EF4-FFF2-40B4-BE49-F238E27FC236}">
                <a16:creationId xmlns:a16="http://schemas.microsoft.com/office/drawing/2014/main" id="{4932B600-8AD1-E285-5130-45BD021DF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14400"/>
            <a:ext cx="4953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29" name="Text Box 17">
            <a:extLst>
              <a:ext uri="{FF2B5EF4-FFF2-40B4-BE49-F238E27FC236}">
                <a16:creationId xmlns:a16="http://schemas.microsoft.com/office/drawing/2014/main" id="{20B39766-8A25-7833-12AE-B5CC31901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2954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/>
              <a:t>Load is resistive</a:t>
            </a:r>
          </a:p>
        </p:txBody>
      </p:sp>
      <p:sp>
        <p:nvSpPr>
          <p:cNvPr id="13330" name="Rectangle 18">
            <a:extLst>
              <a:ext uri="{FF2B5EF4-FFF2-40B4-BE49-F238E27FC236}">
                <a16:creationId xmlns:a16="http://schemas.microsoft.com/office/drawing/2014/main" id="{F774D76A-831F-6D5B-7DCD-C4C94144EAA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88913"/>
            <a:ext cx="9144000" cy="1143000"/>
          </a:xfrm>
        </p:spPr>
        <p:txBody>
          <a:bodyPr/>
          <a:lstStyle/>
          <a:p>
            <a:pPr algn="l"/>
            <a:r>
              <a:rPr lang="tr-TR" altLang="en-US" sz="2500" b="1">
                <a:solidFill>
                  <a:schemeClr val="tx1"/>
                </a:solidFill>
              </a:rPr>
              <a:t>SINGLE PHASE HALF WAVE CONTROLLED RECTIFIERS</a:t>
            </a:r>
            <a:br>
              <a:rPr lang="tr-TR" altLang="en-US" sz="2500" b="1">
                <a:solidFill>
                  <a:schemeClr val="tx1"/>
                </a:solidFill>
              </a:rPr>
            </a:br>
            <a:endParaRPr lang="tr-TR" altLang="en-US" sz="25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1" name="Text Box 7">
            <a:extLst>
              <a:ext uri="{FF2B5EF4-FFF2-40B4-BE49-F238E27FC236}">
                <a16:creationId xmlns:a16="http://schemas.microsoft.com/office/drawing/2014/main" id="{6A365401-5072-1B54-063D-651469184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2954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/>
              <a:t>Load is inductive</a:t>
            </a:r>
          </a:p>
        </p:txBody>
      </p:sp>
      <p:pic>
        <p:nvPicPr>
          <p:cNvPr id="21512" name="Picture 8">
            <a:extLst>
              <a:ext uri="{FF2B5EF4-FFF2-40B4-BE49-F238E27FC236}">
                <a16:creationId xmlns:a16="http://schemas.microsoft.com/office/drawing/2014/main" id="{F126A02F-4C7D-B13F-21CD-CE5E76278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908050"/>
            <a:ext cx="4641850" cy="576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6" name="Picture 4">
            <a:extLst>
              <a:ext uri="{FF2B5EF4-FFF2-40B4-BE49-F238E27FC236}">
                <a16:creationId xmlns:a16="http://schemas.microsoft.com/office/drawing/2014/main" id="{F03F9726-DE58-9200-6C6C-A4E266D1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4335463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9" name="Text Box 7">
            <a:extLst>
              <a:ext uri="{FF2B5EF4-FFF2-40B4-BE49-F238E27FC236}">
                <a16:creationId xmlns:a16="http://schemas.microsoft.com/office/drawing/2014/main" id="{E53F2F4E-92AA-A33C-3727-660325FB9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2192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/>
              <a:t>Rectifier with FWD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4" name="Picture 4">
            <a:extLst>
              <a:ext uri="{FF2B5EF4-FFF2-40B4-BE49-F238E27FC236}">
                <a16:creationId xmlns:a16="http://schemas.microsoft.com/office/drawing/2014/main" id="{70DBD033-E36E-B86E-0D10-D8FE0C438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5126038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6" name="Text Box 6">
            <a:extLst>
              <a:ext uri="{FF2B5EF4-FFF2-40B4-BE49-F238E27FC236}">
                <a16:creationId xmlns:a16="http://schemas.microsoft.com/office/drawing/2014/main" id="{7B2E417E-9A97-D64F-3EA9-BF495A4FC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2954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/>
              <a:t>Load is resistive</a:t>
            </a:r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74A95D6F-D753-5B9E-BCE5-5D7C0BCE1C3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5588" cy="1143000"/>
          </a:xfrm>
        </p:spPr>
        <p:txBody>
          <a:bodyPr/>
          <a:lstStyle/>
          <a:p>
            <a:r>
              <a:rPr lang="tr-TR" altLang="en-US" sz="2500" b="1">
                <a:solidFill>
                  <a:schemeClr val="tx1"/>
                </a:solidFill>
              </a:rPr>
              <a:t>SINGLE PHASE FULL WAVE CONTROLLED RECTIFIERS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>
            <a:extLst>
              <a:ext uri="{FF2B5EF4-FFF2-40B4-BE49-F238E27FC236}">
                <a16:creationId xmlns:a16="http://schemas.microsoft.com/office/drawing/2014/main" id="{5E8D5CD7-5848-8A42-8B4B-587136D53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549275"/>
            <a:ext cx="5040313" cy="604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80" name="Text Box 4">
            <a:extLst>
              <a:ext uri="{FF2B5EF4-FFF2-40B4-BE49-F238E27FC236}">
                <a16:creationId xmlns:a16="http://schemas.microsoft.com/office/drawing/2014/main" id="{F182D3BD-6D75-8AF6-35FF-F0BD307D2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2954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/>
              <a:t>Load is inductive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>
            <a:extLst>
              <a:ext uri="{FF2B5EF4-FFF2-40B4-BE49-F238E27FC236}">
                <a16:creationId xmlns:a16="http://schemas.microsoft.com/office/drawing/2014/main" id="{ADC4DAE5-FD5A-937F-E2F3-BD76AF7BA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5029200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28" name="Text Box 4">
            <a:extLst>
              <a:ext uri="{FF2B5EF4-FFF2-40B4-BE49-F238E27FC236}">
                <a16:creationId xmlns:a16="http://schemas.microsoft.com/office/drawing/2014/main" id="{ED615A21-7CFD-26CA-E2AC-FFED0AD7D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2192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/>
              <a:t>Rectifier with FWD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>
            <a:extLst>
              <a:ext uri="{FF2B5EF4-FFF2-40B4-BE49-F238E27FC236}">
                <a16:creationId xmlns:a16="http://schemas.microsoft.com/office/drawing/2014/main" id="{A2B7704F-98AE-B94D-957F-1DA59FAC3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1679575"/>
            <a:ext cx="8412163" cy="349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912347A5-05D8-CF94-2CAD-0F8223956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7315200" cy="304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4" name="Text Box 4">
            <a:extLst>
              <a:ext uri="{FF2B5EF4-FFF2-40B4-BE49-F238E27FC236}">
                <a16:creationId xmlns:a16="http://schemas.microsoft.com/office/drawing/2014/main" id="{B19D3C5E-31BF-B2A6-8045-43C5BCB9A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1430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/>
              <a:t>Midpoint Rectifier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8076F21F-8985-59F9-2C15-C89B8E6FFF5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324975" cy="1143000"/>
          </a:xfrm>
        </p:spPr>
        <p:txBody>
          <a:bodyPr/>
          <a:lstStyle/>
          <a:p>
            <a:r>
              <a:rPr lang="tr-TR" altLang="en-US" sz="2500" b="1">
                <a:solidFill>
                  <a:schemeClr val="tx1"/>
                </a:solidFill>
              </a:rPr>
              <a:t>SINGLE PHASE FULL WAVE CONTROLLED RECTIFIERS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>
            <a:extLst>
              <a:ext uri="{FF2B5EF4-FFF2-40B4-BE49-F238E27FC236}">
                <a16:creationId xmlns:a16="http://schemas.microsoft.com/office/drawing/2014/main" id="{ABC6ECE3-0C56-E064-53D3-A501844ED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14400"/>
            <a:ext cx="434340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76" name="Text Box 4">
            <a:extLst>
              <a:ext uri="{FF2B5EF4-FFF2-40B4-BE49-F238E27FC236}">
                <a16:creationId xmlns:a16="http://schemas.microsoft.com/office/drawing/2014/main" id="{2E607789-6946-B575-FC01-AB19E227F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066800"/>
            <a:ext cx="2286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/>
              <a:t>Resistive Load</a:t>
            </a:r>
          </a:p>
          <a:p>
            <a:pPr>
              <a:spcBef>
                <a:spcPct val="50000"/>
              </a:spcBef>
            </a:pPr>
            <a:r>
              <a:rPr lang="tr-TR" altLang="en-US"/>
              <a:t>         </a:t>
            </a:r>
            <a:r>
              <a:rPr lang="tr-TR" altLang="en-US">
                <a:cs typeface="Times New Roman" panose="02020603050405020304" pitchFamily="18" charset="0"/>
              </a:rPr>
              <a:t>α</a:t>
            </a:r>
            <a:r>
              <a:rPr lang="tr-TR" altLang="en-US"/>
              <a:t>=0</a:t>
            </a:r>
          </a:p>
        </p:txBody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2AFC5B03-C203-9733-DF0E-60117CD1EBF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-171450"/>
            <a:ext cx="8820150" cy="1143000"/>
          </a:xfrm>
        </p:spPr>
        <p:txBody>
          <a:bodyPr/>
          <a:lstStyle/>
          <a:p>
            <a:pPr algn="l"/>
            <a:r>
              <a:rPr lang="tr-TR" altLang="en-US"/>
              <a:t> </a:t>
            </a:r>
            <a:r>
              <a:rPr lang="tr-TR" altLang="en-US" sz="2800" b="1">
                <a:solidFill>
                  <a:schemeClr val="tx1"/>
                </a:solidFill>
              </a:rPr>
              <a:t>THREE PHASE MIDPOINT RECTIFIERS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>
            <a:extLst>
              <a:ext uri="{FF2B5EF4-FFF2-40B4-BE49-F238E27FC236}">
                <a16:creationId xmlns:a16="http://schemas.microsoft.com/office/drawing/2014/main" id="{3186CAF1-FC28-1A26-A4CB-007C23AD3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33600"/>
            <a:ext cx="38100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9" name="Picture 3">
            <a:extLst>
              <a:ext uri="{FF2B5EF4-FFF2-40B4-BE49-F238E27FC236}">
                <a16:creationId xmlns:a16="http://schemas.microsoft.com/office/drawing/2014/main" id="{A9B34DCB-3790-E1B1-D1C7-EB6724DC0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209800"/>
            <a:ext cx="4343400" cy="304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00" name="Text Box 4">
            <a:extLst>
              <a:ext uri="{FF2B5EF4-FFF2-40B4-BE49-F238E27FC236}">
                <a16:creationId xmlns:a16="http://schemas.microsoft.com/office/drawing/2014/main" id="{5D7E65C4-DC0F-D5E4-2B2C-6DA0C7DF2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44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>
                <a:cs typeface="Times New Roman" panose="02020603050405020304" pitchFamily="18" charset="0"/>
              </a:rPr>
              <a:t>α</a:t>
            </a:r>
            <a:r>
              <a:rPr lang="tr-TR" altLang="en-US"/>
              <a:t>=30</a:t>
            </a: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34AF6193-754B-E4F0-561C-C86CAF83D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447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>
                <a:cs typeface="Times New Roman" panose="02020603050405020304" pitchFamily="18" charset="0"/>
              </a:rPr>
              <a:t>α</a:t>
            </a:r>
            <a:r>
              <a:rPr lang="tr-TR" altLang="en-US"/>
              <a:t>=60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>
            <a:extLst>
              <a:ext uri="{FF2B5EF4-FFF2-40B4-BE49-F238E27FC236}">
                <a16:creationId xmlns:a16="http://schemas.microsoft.com/office/drawing/2014/main" id="{28DA9673-64DC-4902-731E-151844244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66800"/>
            <a:ext cx="4419600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24" name="Text Box 4">
            <a:extLst>
              <a:ext uri="{FF2B5EF4-FFF2-40B4-BE49-F238E27FC236}">
                <a16:creationId xmlns:a16="http://schemas.microsoft.com/office/drawing/2014/main" id="{572D6385-45C2-CFDF-EEED-02EF3A058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295400"/>
            <a:ext cx="228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/>
              <a:t>Inductive Load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1026">
            <a:extLst>
              <a:ext uri="{FF2B5EF4-FFF2-40B4-BE49-F238E27FC236}">
                <a16:creationId xmlns:a16="http://schemas.microsoft.com/office/drawing/2014/main" id="{338EAA4E-F6E8-FDE7-D464-05DED9B55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 sz="2700"/>
              <a:t>   </a:t>
            </a:r>
          </a:p>
        </p:txBody>
      </p:sp>
      <p:pic>
        <p:nvPicPr>
          <p:cNvPr id="50180" name="Picture 1028">
            <a:extLst>
              <a:ext uri="{FF2B5EF4-FFF2-40B4-BE49-F238E27FC236}">
                <a16:creationId xmlns:a16="http://schemas.microsoft.com/office/drawing/2014/main" id="{35EF3F97-B675-5DA2-8E3C-C44473ECB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5337175" cy="3932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81" name="Rectangle 1029">
            <a:extLst>
              <a:ext uri="{FF2B5EF4-FFF2-40B4-BE49-F238E27FC236}">
                <a16:creationId xmlns:a16="http://schemas.microsoft.com/office/drawing/2014/main" id="{77B86E5F-BD4A-B9BD-A3FC-73C5F41A431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8640763" cy="1143000"/>
          </a:xfrm>
        </p:spPr>
        <p:txBody>
          <a:bodyPr/>
          <a:lstStyle/>
          <a:p>
            <a:pPr algn="l"/>
            <a:r>
              <a:rPr lang="tr-TR" altLang="en-US" sz="2500" b="1">
                <a:solidFill>
                  <a:schemeClr val="tx1"/>
                </a:solidFill>
              </a:rPr>
              <a:t>THREE PHASE UNCONTROLLED BRIDGE RECTIFIERS</a:t>
            </a:r>
            <a:br>
              <a:rPr lang="tr-TR" altLang="en-US" sz="2500">
                <a:solidFill>
                  <a:schemeClr val="tx1"/>
                </a:solidFill>
              </a:rPr>
            </a:br>
            <a:endParaRPr lang="tr-TR" altLang="en-US" sz="25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>
            <a:extLst>
              <a:ext uri="{FF2B5EF4-FFF2-40B4-BE49-F238E27FC236}">
                <a16:creationId xmlns:a16="http://schemas.microsoft.com/office/drawing/2014/main" id="{3975AEC9-1AB8-1753-D989-D2E794E45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66800"/>
            <a:ext cx="6324600" cy="545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1026">
            <a:extLst>
              <a:ext uri="{FF2B5EF4-FFF2-40B4-BE49-F238E27FC236}">
                <a16:creationId xmlns:a16="http://schemas.microsoft.com/office/drawing/2014/main" id="{81BC09A9-89D0-6024-A0EB-82FDC5458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8600"/>
            <a:ext cx="9144000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 sz="2700"/>
              <a:t>   </a:t>
            </a:r>
          </a:p>
        </p:txBody>
      </p:sp>
      <p:pic>
        <p:nvPicPr>
          <p:cNvPr id="31749" name="Picture 1029">
            <a:extLst>
              <a:ext uri="{FF2B5EF4-FFF2-40B4-BE49-F238E27FC236}">
                <a16:creationId xmlns:a16="http://schemas.microsoft.com/office/drawing/2014/main" id="{2547C6C7-9123-C275-E954-93FE8415B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5257800" cy="387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50" name="Rectangle 1030">
            <a:extLst>
              <a:ext uri="{FF2B5EF4-FFF2-40B4-BE49-F238E27FC236}">
                <a16:creationId xmlns:a16="http://schemas.microsoft.com/office/drawing/2014/main" id="{993863A7-C0DC-5C96-26C9-1A725349CB9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9144000" cy="1143000"/>
          </a:xfrm>
        </p:spPr>
        <p:txBody>
          <a:bodyPr/>
          <a:lstStyle/>
          <a:p>
            <a:pPr algn="l"/>
            <a:r>
              <a:rPr lang="tr-TR" altLang="en-US" sz="2500" b="1">
                <a:solidFill>
                  <a:schemeClr val="tx1"/>
                </a:solidFill>
              </a:rPr>
              <a:t>THREE PHASE CONTROLLED BRIDGE RECTIFIERS</a:t>
            </a:r>
            <a:br>
              <a:rPr lang="tr-TR" altLang="en-US" sz="2800" b="1">
                <a:solidFill>
                  <a:schemeClr val="tx1"/>
                </a:solidFill>
              </a:rPr>
            </a:br>
            <a:endParaRPr lang="tr-TR" altLang="en-US" sz="28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70" name="Picture 6">
            <a:extLst>
              <a:ext uri="{FF2B5EF4-FFF2-40B4-BE49-F238E27FC236}">
                <a16:creationId xmlns:a16="http://schemas.microsoft.com/office/drawing/2014/main" id="{FDC5EC1F-6210-99D7-9F84-EA1DA34F5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066800"/>
            <a:ext cx="6096000" cy="543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872" name="Text Box 8">
            <a:extLst>
              <a:ext uri="{FF2B5EF4-FFF2-40B4-BE49-F238E27FC236}">
                <a16:creationId xmlns:a16="http://schemas.microsoft.com/office/drawing/2014/main" id="{53B0C1EA-E5A9-1FC8-38EB-036EEC14F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810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>
                <a:cs typeface="Times New Roman" panose="02020603050405020304" pitchFamily="18" charset="0"/>
              </a:rPr>
              <a:t>α</a:t>
            </a:r>
            <a:r>
              <a:rPr lang="tr-TR" altLang="en-US"/>
              <a:t>=30</a:t>
            </a:r>
          </a:p>
        </p:txBody>
      </p:sp>
      <p:sp>
        <p:nvSpPr>
          <p:cNvPr id="36873" name="Text Box 9">
            <a:extLst>
              <a:ext uri="{FF2B5EF4-FFF2-40B4-BE49-F238E27FC236}">
                <a16:creationId xmlns:a16="http://schemas.microsoft.com/office/drawing/2014/main" id="{6E8B30AA-CF97-FFF4-48EE-834BC29EB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>
                <a:cs typeface="Times New Roman" panose="02020603050405020304" pitchFamily="18" charset="0"/>
              </a:rPr>
              <a:t>α</a:t>
            </a:r>
            <a:r>
              <a:rPr lang="tr-TR" altLang="en-US"/>
              <a:t>&lt;60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>
            <a:extLst>
              <a:ext uri="{FF2B5EF4-FFF2-40B4-BE49-F238E27FC236}">
                <a16:creationId xmlns:a16="http://schemas.microsoft.com/office/drawing/2014/main" id="{5125495E-4E15-8DEF-2C1E-3DF21BA33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90600"/>
            <a:ext cx="5638800" cy="556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15" name="Text Box 3">
            <a:extLst>
              <a:ext uri="{FF2B5EF4-FFF2-40B4-BE49-F238E27FC236}">
                <a16:creationId xmlns:a16="http://schemas.microsoft.com/office/drawing/2014/main" id="{A53908E2-F278-FCDD-F275-729B26BB0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810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>
                <a:cs typeface="Times New Roman" panose="02020603050405020304" pitchFamily="18" charset="0"/>
              </a:rPr>
              <a:t>α</a:t>
            </a:r>
            <a:r>
              <a:rPr lang="tr-TR" altLang="en-US"/>
              <a:t>=90</a:t>
            </a: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2E7BB3F0-A2EA-E5D2-1A62-65A2362DA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810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US">
                <a:cs typeface="Times New Roman" panose="02020603050405020304" pitchFamily="18" charset="0"/>
              </a:rPr>
              <a:t>α</a:t>
            </a:r>
            <a:r>
              <a:rPr lang="tr-TR" altLang="en-US"/>
              <a:t>&gt;60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324</TotalTime>
  <Words>839</Words>
  <Application>Microsoft Office PowerPoint</Application>
  <PresentationFormat>On-screen Show (4:3)</PresentationFormat>
  <Paragraphs>140</Paragraphs>
  <Slides>34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Times New Roman</vt:lpstr>
      <vt:lpstr>Wingdings</vt:lpstr>
      <vt:lpstr>굴림</vt:lpstr>
      <vt:lpstr>Arial</vt:lpstr>
      <vt:lpstr>Times</vt:lpstr>
      <vt:lpstr>Palatino</vt:lpstr>
      <vt:lpstr>Circuit</vt:lpstr>
      <vt:lpstr>VISIO 5 드로잉</vt:lpstr>
      <vt:lpstr>CONTENTS</vt:lpstr>
      <vt:lpstr>Introduction to Power Electronics</vt:lpstr>
      <vt:lpstr>PowerPoint Presentation</vt:lpstr>
      <vt:lpstr>PowerPoint Presentation</vt:lpstr>
      <vt:lpstr>PowerPoint Presentation</vt:lpstr>
      <vt:lpstr>PowerPoint Presentation</vt:lpstr>
      <vt:lpstr>Power Semiconductor Devices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HALF WAVE RECTIFIERS</vt:lpstr>
      <vt:lpstr>FULL WAVE MIDPOINT RECTIFIERS</vt:lpstr>
      <vt:lpstr>FULL WAVE BRIDGE RECTIFIERS</vt:lpstr>
      <vt:lpstr>SINGLE PHASE HALF WAVE CONTROLLED RECTIFIERS </vt:lpstr>
      <vt:lpstr>PowerPoint Presentation</vt:lpstr>
      <vt:lpstr>PowerPoint Presentation</vt:lpstr>
      <vt:lpstr>SINGLE PHASE FULL WAVE CONTROLLED RECTIFIERS</vt:lpstr>
      <vt:lpstr>PowerPoint Presentation</vt:lpstr>
      <vt:lpstr>PowerPoint Presentation</vt:lpstr>
      <vt:lpstr>PowerPoint Presentation</vt:lpstr>
      <vt:lpstr>SINGLE PHASE FULL WAVE CONTROLLED RECTIFIERS</vt:lpstr>
      <vt:lpstr> THREE PHASE MIDPOINT RECTIFIERS</vt:lpstr>
      <vt:lpstr>PowerPoint Presentation</vt:lpstr>
      <vt:lpstr>PowerPoint Presentation</vt:lpstr>
      <vt:lpstr>THREE PHASE UNCONTROLLED BRIDGE RECTIFIERS </vt:lpstr>
      <vt:lpstr>PowerPoint Presentation</vt:lpstr>
      <vt:lpstr>THREE PHASE CONTROLLED BRIDGE RECTIFIERS </vt:lpstr>
      <vt:lpstr>PowerPoint Presentation</vt:lpstr>
      <vt:lpstr>PowerPoint Presentation</vt:lpstr>
    </vt:vector>
  </TitlesOfParts>
  <Company>ORAL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SELİM</dc:creator>
  <cp:lastModifiedBy>shivam69772@gmail.com</cp:lastModifiedBy>
  <cp:revision>36</cp:revision>
  <dcterms:created xsi:type="dcterms:W3CDTF">2007-12-03T14:41:57Z</dcterms:created>
  <dcterms:modified xsi:type="dcterms:W3CDTF">2025-12-31T18:59:30Z</dcterms:modified>
</cp:coreProperties>
</file>